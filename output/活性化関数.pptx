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活性化関数" id="{118d4386-b7aa-bd1a-6d41-6e54739e453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</c:v>
                </c:pt>
              </c:strCache>
            </c:strRef>
          </c:tx>
          <c:spPr>
            <a:solidFill>
              <a:srgbClr val="5B6C8F"/>
            </a:solidFill>
            <a:ln w="31750" cap="flat">
              <a:solidFill>
                <a:srgbClr val="5B6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C8F"/>
              </a:solidFill>
              <a:ln w="9525" cap="flat">
                <a:solidFill>
                  <a:srgbClr val="5B6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0.007</c:v>
                </c:pt>
                <c:pt idx="1">
                  <c:v>0.009</c:v>
                </c:pt>
                <c:pt idx="2">
                  <c:v>0.011</c:v>
                </c:pt>
                <c:pt idx="3">
                  <c:v>0.014</c:v>
                </c:pt>
                <c:pt idx="4">
                  <c:v>0.018</c:v>
                </c:pt>
                <c:pt idx="5">
                  <c:v>0.023</c:v>
                </c:pt>
                <c:pt idx="6">
                  <c:v>0.029</c:v>
                </c:pt>
                <c:pt idx="7">
                  <c:v>0.037</c:v>
                </c:pt>
                <c:pt idx="8">
                  <c:v>0.047</c:v>
                </c:pt>
                <c:pt idx="9">
                  <c:v>0.06</c:v>
                </c:pt>
                <c:pt idx="10">
                  <c:v>0.076</c:v>
                </c:pt>
                <c:pt idx="11">
                  <c:v>0.095</c:v>
                </c:pt>
                <c:pt idx="12">
                  <c:v>0.119</c:v>
                </c:pt>
                <c:pt idx="13">
                  <c:v>0.148</c:v>
                </c:pt>
                <c:pt idx="14">
                  <c:v>0.182</c:v>
                </c:pt>
                <c:pt idx="15">
                  <c:v>0.223</c:v>
                </c:pt>
                <c:pt idx="16">
                  <c:v>0.269</c:v>
                </c:pt>
                <c:pt idx="17">
                  <c:v>0.321</c:v>
                </c:pt>
                <c:pt idx="18">
                  <c:v>0.378</c:v>
                </c:pt>
                <c:pt idx="19">
                  <c:v>0.438</c:v>
                </c:pt>
                <c:pt idx="20">
                  <c:v>0.5</c:v>
                </c:pt>
                <c:pt idx="21">
                  <c:v>0.562</c:v>
                </c:pt>
                <c:pt idx="22">
                  <c:v>0.622</c:v>
                </c:pt>
                <c:pt idx="23">
                  <c:v>0.679</c:v>
                </c:pt>
                <c:pt idx="24">
                  <c:v>0.731</c:v>
                </c:pt>
                <c:pt idx="25">
                  <c:v>0.777</c:v>
                </c:pt>
                <c:pt idx="26">
                  <c:v>0.818</c:v>
                </c:pt>
                <c:pt idx="27">
                  <c:v>0.852</c:v>
                </c:pt>
                <c:pt idx="28">
                  <c:v>0.881</c:v>
                </c:pt>
                <c:pt idx="29">
                  <c:v>0.905</c:v>
                </c:pt>
                <c:pt idx="30">
                  <c:v>0.924</c:v>
                </c:pt>
                <c:pt idx="31">
                  <c:v>0.94</c:v>
                </c:pt>
                <c:pt idx="32">
                  <c:v>0.953</c:v>
                </c:pt>
                <c:pt idx="33">
                  <c:v>0.963</c:v>
                </c:pt>
                <c:pt idx="34">
                  <c:v>0.971</c:v>
                </c:pt>
                <c:pt idx="35">
                  <c:v>0.977</c:v>
                </c:pt>
                <c:pt idx="36">
                  <c:v>0.982</c:v>
                </c:pt>
                <c:pt idx="37">
                  <c:v>0.986</c:v>
                </c:pt>
                <c:pt idx="38">
                  <c:v>0.989</c:v>
                </c:pt>
                <c:pt idx="39">
                  <c:v>0.991</c:v>
                </c:pt>
                <c:pt idx="40">
                  <c:v>0.993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</c:v>
                </c:pt>
              </c:strCache>
            </c:strRef>
          </c:tx>
          <c:spPr>
            <a:solidFill>
              <a:srgbClr val="7A4FA3"/>
            </a:solidFill>
            <a:ln w="31750" cap="flat">
              <a:solidFill>
                <a:srgbClr val="7A4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4FA3"/>
              </a:solidFill>
              <a:ln w="9525" cap="flat">
                <a:solidFill>
                  <a:srgbClr val="7A4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-0.999</c:v>
                </c:pt>
                <c:pt idx="5">
                  <c:v>-0.999</c:v>
                </c:pt>
                <c:pt idx="6">
                  <c:v>-0.998</c:v>
                </c:pt>
                <c:pt idx="7">
                  <c:v>-0.997</c:v>
                </c:pt>
                <c:pt idx="8">
                  <c:v>-0.995</c:v>
                </c:pt>
                <c:pt idx="9">
                  <c:v>-0.992</c:v>
                </c:pt>
                <c:pt idx="10">
                  <c:v>-0.987</c:v>
                </c:pt>
                <c:pt idx="11">
                  <c:v>-0.978</c:v>
                </c:pt>
                <c:pt idx="12">
                  <c:v>-0.964</c:v>
                </c:pt>
                <c:pt idx="13">
                  <c:v>-0.941</c:v>
                </c:pt>
                <c:pt idx="14">
                  <c:v>-0.905</c:v>
                </c:pt>
                <c:pt idx="15">
                  <c:v>-0.848</c:v>
                </c:pt>
                <c:pt idx="16">
                  <c:v>-0.762</c:v>
                </c:pt>
                <c:pt idx="17">
                  <c:v>-0.635</c:v>
                </c:pt>
                <c:pt idx="18">
                  <c:v>-0.462</c:v>
                </c:pt>
                <c:pt idx="19">
                  <c:v>-0.245</c:v>
                </c:pt>
                <c:pt idx="20">
                  <c:v>0</c:v>
                </c:pt>
                <c:pt idx="21">
                  <c:v>0.245</c:v>
                </c:pt>
                <c:pt idx="22">
                  <c:v>0.462</c:v>
                </c:pt>
                <c:pt idx="23">
                  <c:v>0.635</c:v>
                </c:pt>
                <c:pt idx="24">
                  <c:v>0.762</c:v>
                </c:pt>
                <c:pt idx="25">
                  <c:v>0.848</c:v>
                </c:pt>
                <c:pt idx="26">
                  <c:v>0.905</c:v>
                </c:pt>
                <c:pt idx="27">
                  <c:v>0.941</c:v>
                </c:pt>
                <c:pt idx="28">
                  <c:v>0.964</c:v>
                </c:pt>
                <c:pt idx="29">
                  <c:v>0.978</c:v>
                </c:pt>
                <c:pt idx="30">
                  <c:v>0.987</c:v>
                </c:pt>
                <c:pt idx="31">
                  <c:v>0.992</c:v>
                </c:pt>
                <c:pt idx="32">
                  <c:v>0.995</c:v>
                </c:pt>
                <c:pt idx="33">
                  <c:v>0.997</c:v>
                </c:pt>
                <c:pt idx="34">
                  <c:v>0.998</c:v>
                </c:pt>
                <c:pt idx="35">
                  <c:v>0.999</c:v>
                </c:pt>
                <c:pt idx="36">
                  <c:v>0.999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</c:v>
                </c:pt>
              </c:strCache>
            </c:strRef>
          </c:tx>
          <c:spPr>
            <a:solidFill>
              <a:srgbClr val="0F7C80"/>
            </a:solidFill>
            <a:ln w="31750" cap="flat">
              <a:solidFill>
                <a:srgbClr val="0F7C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C80"/>
              </a:solidFill>
              <a:ln w="9525" cap="flat">
                <a:solidFill>
                  <a:srgbClr val="0F7C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0.25</c:v>
                </c:pt>
                <c:pt idx="22">
                  <c:v>0.5</c:v>
                </c:pt>
                <c:pt idx="23">
                  <c:v>0.75</c:v>
                </c:pt>
                <c:pt idx="24">
                  <c:v>1</c:v>
                </c:pt>
                <c:pt idx="25">
                  <c:v>1.25</c:v>
                </c:pt>
                <c:pt idx="26">
                  <c:v>1.5</c:v>
                </c:pt>
                <c:pt idx="27">
                  <c:v>1.75</c:v>
                </c:pt>
                <c:pt idx="28">
                  <c:v>2</c:v>
                </c:pt>
                <c:pt idx="29">
                  <c:v>2.25</c:v>
                </c:pt>
                <c:pt idx="30">
                  <c:v>2.5</c:v>
                </c:pt>
                <c:pt idx="31">
                  <c:v>2.75</c:v>
                </c:pt>
                <c:pt idx="32">
                  <c:v>3</c:v>
                </c:pt>
                <c:pt idx="33">
                  <c:v>3.25</c:v>
                </c:pt>
                <c:pt idx="34">
                  <c:v>3.5</c:v>
                </c:pt>
                <c:pt idx="35">
                  <c:v>3.75</c:v>
                </c:pt>
                <c:pt idx="36">
                  <c:v>4</c:v>
                </c:pt>
                <c:pt idx="37">
                  <c:v>4.25</c:v>
                </c:pt>
                <c:pt idx="38">
                  <c:v>4.5</c:v>
                </c:pt>
                <c:pt idx="39">
                  <c:v>4.75</c:v>
                </c:pt>
                <c:pt idx="4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5"/>
          <c:min val="-1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</c:v>
                </c:pt>
              </c:strCache>
            </c:strRef>
          </c:tx>
          <c:spPr>
            <a:solidFill>
              <a:srgbClr val="E09A2D"/>
            </a:solidFill>
            <a:ln w="31750" cap="flat">
              <a:solidFill>
                <a:srgbClr val="E09A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A2D"/>
              </a:solidFill>
              <a:ln w="9525" cap="flat">
                <a:solidFill>
                  <a:srgbClr val="E09A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-0.5</c:v>
                </c:pt>
                <c:pt idx="1">
                  <c:v>-0.475</c:v>
                </c:pt>
                <c:pt idx="2">
                  <c:v>-0.45</c:v>
                </c:pt>
                <c:pt idx="3">
                  <c:v>-0.425</c:v>
                </c:pt>
                <c:pt idx="4">
                  <c:v>-0.4</c:v>
                </c:pt>
                <c:pt idx="5">
                  <c:v>-0.375</c:v>
                </c:pt>
                <c:pt idx="6">
                  <c:v>-0.35</c:v>
                </c:pt>
                <c:pt idx="7">
                  <c:v>-0.325</c:v>
                </c:pt>
                <c:pt idx="8">
                  <c:v>-0.3</c:v>
                </c:pt>
                <c:pt idx="9">
                  <c:v>-0.275</c:v>
                </c:pt>
                <c:pt idx="10">
                  <c:v>-0.25</c:v>
                </c:pt>
                <c:pt idx="11">
                  <c:v>-0.225</c:v>
                </c:pt>
                <c:pt idx="12">
                  <c:v>-0.2</c:v>
                </c:pt>
                <c:pt idx="13">
                  <c:v>-0.175</c:v>
                </c:pt>
                <c:pt idx="14">
                  <c:v>-0.15</c:v>
                </c:pt>
                <c:pt idx="15">
                  <c:v>-0.125</c:v>
                </c:pt>
                <c:pt idx="16">
                  <c:v>-0.1</c:v>
                </c:pt>
                <c:pt idx="17">
                  <c:v>-0.075</c:v>
                </c:pt>
                <c:pt idx="18">
                  <c:v>-0.05</c:v>
                </c:pt>
                <c:pt idx="19">
                  <c:v>-0.025</c:v>
                </c:pt>
                <c:pt idx="20">
                  <c:v>0</c:v>
                </c:pt>
                <c:pt idx="21">
                  <c:v>0.25</c:v>
                </c:pt>
                <c:pt idx="22">
                  <c:v>0.5</c:v>
                </c:pt>
                <c:pt idx="23">
                  <c:v>0.75</c:v>
                </c:pt>
                <c:pt idx="24">
                  <c:v>1</c:v>
                </c:pt>
                <c:pt idx="25">
                  <c:v>1.25</c:v>
                </c:pt>
                <c:pt idx="26">
                  <c:v>1.5</c:v>
                </c:pt>
                <c:pt idx="27">
                  <c:v>1.75</c:v>
                </c:pt>
                <c:pt idx="28">
                  <c:v>2</c:v>
                </c:pt>
                <c:pt idx="29">
                  <c:v>2.25</c:v>
                </c:pt>
                <c:pt idx="30">
                  <c:v>2.5</c:v>
                </c:pt>
                <c:pt idx="31">
                  <c:v>2.75</c:v>
                </c:pt>
                <c:pt idx="32">
                  <c:v>3</c:v>
                </c:pt>
                <c:pt idx="33">
                  <c:v>3.25</c:v>
                </c:pt>
                <c:pt idx="34">
                  <c:v>3.5</c:v>
                </c:pt>
                <c:pt idx="35">
                  <c:v>3.75</c:v>
                </c:pt>
                <c:pt idx="36">
                  <c:v>4</c:v>
                </c:pt>
                <c:pt idx="37">
                  <c:v>4.25</c:v>
                </c:pt>
                <c:pt idx="38">
                  <c:v>4.5</c:v>
                </c:pt>
                <c:pt idx="39">
                  <c:v>4.75</c:v>
                </c:pt>
                <c:pt idx="4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5"/>
          <c:min val="-1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シグモイドの傾き</c:v>
                </c:pt>
              </c:strCache>
            </c:strRef>
          </c:tx>
          <c:spPr>
            <a:solidFill>
              <a:srgbClr val="5B6C8F"/>
            </a:solidFill>
            <a:ln w="28575" cap="flat">
              <a:solidFill>
                <a:srgbClr val="5B6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C8F"/>
              </a:solidFill>
              <a:ln w="9525" cap="flat">
                <a:solidFill>
                  <a:srgbClr val="5B6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0.007</c:v>
                </c:pt>
                <c:pt idx="1">
                  <c:v>0.009</c:v>
                </c:pt>
                <c:pt idx="2">
                  <c:v>0.011</c:v>
                </c:pt>
                <c:pt idx="3">
                  <c:v>0.014</c:v>
                </c:pt>
                <c:pt idx="4">
                  <c:v>0.018</c:v>
                </c:pt>
                <c:pt idx="5">
                  <c:v>0.022</c:v>
                </c:pt>
                <c:pt idx="6">
                  <c:v>0.028</c:v>
                </c:pt>
                <c:pt idx="7">
                  <c:v>0.036</c:v>
                </c:pt>
                <c:pt idx="8">
                  <c:v>0.045</c:v>
                </c:pt>
                <c:pt idx="9">
                  <c:v>0.056</c:v>
                </c:pt>
                <c:pt idx="10">
                  <c:v>0.07</c:v>
                </c:pt>
                <c:pt idx="11">
                  <c:v>0.086</c:v>
                </c:pt>
                <c:pt idx="12">
                  <c:v>0.105</c:v>
                </c:pt>
                <c:pt idx="13">
                  <c:v>0.126</c:v>
                </c:pt>
                <c:pt idx="14">
                  <c:v>0.149</c:v>
                </c:pt>
                <c:pt idx="15">
                  <c:v>0.173</c:v>
                </c:pt>
                <c:pt idx="16">
                  <c:v>0.197</c:v>
                </c:pt>
                <c:pt idx="17">
                  <c:v>0.218</c:v>
                </c:pt>
                <c:pt idx="18">
                  <c:v>0.235</c:v>
                </c:pt>
                <c:pt idx="19">
                  <c:v>0.246</c:v>
                </c:pt>
                <c:pt idx="20">
                  <c:v>0.25</c:v>
                </c:pt>
                <c:pt idx="21">
                  <c:v>0.246</c:v>
                </c:pt>
                <c:pt idx="22">
                  <c:v>0.235</c:v>
                </c:pt>
                <c:pt idx="23">
                  <c:v>0.218</c:v>
                </c:pt>
                <c:pt idx="24">
                  <c:v>0.197</c:v>
                </c:pt>
                <c:pt idx="25">
                  <c:v>0.173</c:v>
                </c:pt>
                <c:pt idx="26">
                  <c:v>0.149</c:v>
                </c:pt>
                <c:pt idx="27">
                  <c:v>0.126</c:v>
                </c:pt>
                <c:pt idx="28">
                  <c:v>0.105</c:v>
                </c:pt>
                <c:pt idx="29">
                  <c:v>0.086</c:v>
                </c:pt>
                <c:pt idx="30">
                  <c:v>0.07</c:v>
                </c:pt>
                <c:pt idx="31">
                  <c:v>0.056</c:v>
                </c:pt>
                <c:pt idx="32">
                  <c:v>0.045</c:v>
                </c:pt>
                <c:pt idx="33">
                  <c:v>0.036</c:v>
                </c:pt>
                <c:pt idx="34">
                  <c:v>0.028</c:v>
                </c:pt>
                <c:pt idx="35">
                  <c:v>0.022</c:v>
                </c:pt>
                <c:pt idx="36">
                  <c:v>0.018</c:v>
                </c:pt>
                <c:pt idx="37">
                  <c:v>0.014</c:v>
                </c:pt>
                <c:pt idx="38">
                  <c:v>0.011</c:v>
                </c:pt>
                <c:pt idx="39">
                  <c:v>0.009</c:v>
                </c:pt>
                <c:pt idx="40">
                  <c:v>0.007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tanhの傾き</c:v>
                </c:pt>
              </c:strCache>
            </c:strRef>
          </c:tx>
          <c:spPr>
            <a:solidFill>
              <a:srgbClr val="7A4FA3"/>
            </a:solidFill>
            <a:ln w="28575" cap="flat">
              <a:solidFill>
                <a:srgbClr val="7A4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4FA3"/>
              </a:solidFill>
              <a:ln w="9525" cap="flat">
                <a:solidFill>
                  <a:srgbClr val="7A4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0.004</c:v>
                </c:pt>
                <c:pt idx="7">
                  <c:v>0.006</c:v>
                </c:pt>
                <c:pt idx="8">
                  <c:v>0.01</c:v>
                </c:pt>
                <c:pt idx="9">
                  <c:v>0.016</c:v>
                </c:pt>
                <c:pt idx="10">
                  <c:v>0.027</c:v>
                </c:pt>
                <c:pt idx="11">
                  <c:v>0.043</c:v>
                </c:pt>
                <c:pt idx="12">
                  <c:v>0.071</c:v>
                </c:pt>
                <c:pt idx="13">
                  <c:v>0.114</c:v>
                </c:pt>
                <c:pt idx="14">
                  <c:v>0.181</c:v>
                </c:pt>
                <c:pt idx="15">
                  <c:v>0.28</c:v>
                </c:pt>
                <c:pt idx="16">
                  <c:v>0.42</c:v>
                </c:pt>
                <c:pt idx="17">
                  <c:v>0.597</c:v>
                </c:pt>
                <c:pt idx="18">
                  <c:v>0.786</c:v>
                </c:pt>
                <c:pt idx="19">
                  <c:v>0.94</c:v>
                </c:pt>
                <c:pt idx="20">
                  <c:v>1</c:v>
                </c:pt>
                <c:pt idx="21">
                  <c:v>0.94</c:v>
                </c:pt>
                <c:pt idx="22">
                  <c:v>0.786</c:v>
                </c:pt>
                <c:pt idx="23">
                  <c:v>0.597</c:v>
                </c:pt>
                <c:pt idx="24">
                  <c:v>0.42</c:v>
                </c:pt>
                <c:pt idx="25">
                  <c:v>0.28</c:v>
                </c:pt>
                <c:pt idx="26">
                  <c:v>0.181</c:v>
                </c:pt>
                <c:pt idx="27">
                  <c:v>0.114</c:v>
                </c:pt>
                <c:pt idx="28">
                  <c:v>0.071</c:v>
                </c:pt>
                <c:pt idx="29">
                  <c:v>0.043</c:v>
                </c:pt>
                <c:pt idx="30">
                  <c:v>0.027</c:v>
                </c:pt>
                <c:pt idx="31">
                  <c:v>0.016</c:v>
                </c:pt>
                <c:pt idx="32">
                  <c:v>0.01</c:v>
                </c:pt>
                <c:pt idx="33">
                  <c:v>0.006</c:v>
                </c:pt>
                <c:pt idx="34">
                  <c:v>0.004</c:v>
                </c:pt>
                <c:pt idx="35">
                  <c:v>0.002</c:v>
                </c:pt>
                <c:pt idx="36">
                  <c:v>0.001</c:v>
                </c:pt>
                <c:pt idx="37">
                  <c:v>0.001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ReLUの傾き</c:v>
                </c:pt>
              </c:strCache>
            </c:strRef>
          </c:tx>
          <c:spPr>
            <a:solidFill>
              <a:srgbClr val="0F7C80"/>
            </a:solidFill>
            <a:ln w="28575" cap="flat">
              <a:solidFill>
                <a:srgbClr val="0F7C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C80"/>
              </a:solidFill>
              <a:ln w="9525" cap="flat">
                <a:solidFill>
                  <a:srgbClr val="0F7C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</c:v>
                  </c:pt>
                  <c:pt idx="1">
                    <c:v>-4.75</c:v>
                  </c:pt>
                  <c:pt idx="2">
                    <c:v>-4.5</c:v>
                  </c:pt>
                  <c:pt idx="3">
                    <c:v>-4.25</c:v>
                  </c:pt>
                  <c:pt idx="4">
                    <c:v>-4</c:v>
                  </c:pt>
                  <c:pt idx="5">
                    <c:v>-3.75</c:v>
                  </c:pt>
                  <c:pt idx="6">
                    <c:v>-3.5</c:v>
                  </c:pt>
                  <c:pt idx="7">
                    <c:v>-3.25</c:v>
                  </c:pt>
                  <c:pt idx="8">
                    <c:v>-3</c:v>
                  </c:pt>
                  <c:pt idx="9">
                    <c:v>-2.75</c:v>
                  </c:pt>
                  <c:pt idx="10">
                    <c:v>-2.5</c:v>
                  </c:pt>
                  <c:pt idx="11">
                    <c:v>-2.25</c:v>
                  </c:pt>
                  <c:pt idx="12">
                    <c:v>-2</c:v>
                  </c:pt>
                  <c:pt idx="13">
                    <c:v>-1.75</c:v>
                  </c:pt>
                  <c:pt idx="14">
                    <c:v>-1.5</c:v>
                  </c:pt>
                  <c:pt idx="15">
                    <c:v>-1.25</c:v>
                  </c:pt>
                  <c:pt idx="16">
                    <c:v>-1</c:v>
                  </c:pt>
                  <c:pt idx="17">
                    <c:v>-0.75</c:v>
                  </c:pt>
                  <c:pt idx="18">
                    <c:v>-0.5</c:v>
                  </c:pt>
                  <c:pt idx="19">
                    <c:v>-0.25</c:v>
                  </c:pt>
                  <c:pt idx="20">
                    <c:v>0</c:v>
                  </c:pt>
                  <c:pt idx="21">
                    <c:v>0.25</c:v>
                  </c:pt>
                  <c:pt idx="22">
                    <c:v>0.5</c:v>
                  </c:pt>
                  <c:pt idx="23">
                    <c:v>0.75</c:v>
                  </c:pt>
                  <c:pt idx="24">
                    <c:v>1</c:v>
                  </c:pt>
                  <c:pt idx="25">
                    <c:v>1.25</c:v>
                  </c:pt>
                  <c:pt idx="26">
                    <c:v>1.5</c:v>
                  </c:pt>
                  <c:pt idx="27">
                    <c:v>1.75</c:v>
                  </c:pt>
                  <c:pt idx="28">
                    <c:v>2</c:v>
                  </c:pt>
                  <c:pt idx="29">
                    <c:v>2.25</c:v>
                  </c:pt>
                  <c:pt idx="30">
                    <c:v>2.5</c:v>
                  </c:pt>
                  <c:pt idx="31">
                    <c:v>2.75</c:v>
                  </c:pt>
                  <c:pt idx="32">
                    <c:v>3</c:v>
                  </c:pt>
                  <c:pt idx="33">
                    <c:v>3.25</c:v>
                  </c:pt>
                  <c:pt idx="34">
                    <c:v>3.5</c:v>
                  </c:pt>
                  <c:pt idx="35">
                    <c:v>3.75</c:v>
                  </c:pt>
                  <c:pt idx="36">
                    <c:v>4</c:v>
                  </c:pt>
                  <c:pt idx="37">
                    <c:v>4.25</c:v>
                  </c:pt>
                  <c:pt idx="38">
                    <c:v>4.5</c:v>
                  </c:pt>
                  <c:pt idx="39">
                    <c:v>4.75</c:v>
                  </c:pt>
                  <c:pt idx="40">
                    <c:v>5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55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確率</c:v>
                </c:pt>
              </c:strCache>
            </c:strRef>
          </c:tx>
          <c:spPr>
            <a:solidFill>
              <a:srgbClr val="0F7C8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犬</c:v>
                  </c:pt>
                  <c:pt idx="1">
                    <c:v>猫</c:v>
                  </c:pt>
                  <c:pt idx="2">
                    <c:v>その他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0.15</c:v>
                </c:pt>
                <c:pt idx="2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A5B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4つの曲線は形の違い（出力範囲と横ばい部分）を、下段左は勾配消失の理由（傾きの掛け算）を、下段右は出力層でのsoftmaxの役割を示す。付録A 理解確認チェック 043 活性化関数・044 ReLUと勾配消失・045 ソフトマックス関数 に対応。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活性化関数：非線形性で「層を重ねる意味」を生む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なぜ必要？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線形（比例関係）だけでは何層重ねても1層の線形計算と同じ。非線形性こそが多層ネットワークの表現力の源。</a:t>
            </a:r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　出力 = f（入力×重み＋バイアス）</a:t>
            </a:r>
            <a:endParaRPr lang="en-US" sz="1200" dirty="0"/>
          </a:p>
        </p:txBody>
      </p:sp>
      <p:sp>
        <p:nvSpPr>
          <p:cNvPr id="4" name="card-sigmoid"/>
          <p:cNvSpPr/>
          <p:nvPr/>
        </p:nvSpPr>
        <p:spPr>
          <a:xfrm>
            <a:off x="411480" y="1371600"/>
            <a:ext cx="2697480" cy="29260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シグモイド関数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7393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出力 0〜1</a:t>
            </a:r>
            <a:endParaRPr lang="en-US" sz="1000" dirty="0"/>
          </a:p>
        </p:txBody>
      </p:sp>
      <p:graphicFrame>
        <p:nvGraphicFramePr>
          <p:cNvPr id="7" name="chart-sigmoid" descr=""/>
          <p:cNvGraphicFramePr/>
          <p:nvPr/>
        </p:nvGraphicFramePr>
        <p:xfrm>
          <a:off x="457200" y="1993392"/>
          <a:ext cx="26060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1821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1 / (1 + e^(−x))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5643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○ なめらかに0〜1へ押し込め、「確率」のように解釈しやすい。初期のNNで多用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△ 両端で横ばい → 傾き≒0で勾配消失を起こしやすい</a:t>
            </a:r>
            <a:endParaRPr lang="en-US" sz="1000" dirty="0"/>
          </a:p>
        </p:txBody>
      </p:sp>
      <p:sp>
        <p:nvSpPr>
          <p:cNvPr id="10" name="card-tanh"/>
          <p:cNvSpPr/>
          <p:nvPr/>
        </p:nvSpPr>
        <p:spPr>
          <a:xfrm>
            <a:off x="3291840" y="1371600"/>
            <a:ext cx="2697480" cy="29260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tanh 関数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77393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出力 −1〜1</a:t>
            </a:r>
            <a:endParaRPr lang="en-US" sz="1000" dirty="0"/>
          </a:p>
        </p:txBody>
      </p:sp>
      <p:graphicFrame>
        <p:nvGraphicFramePr>
          <p:cNvPr id="13" name="chart-tanh" descr=""/>
          <p:cNvGraphicFramePr/>
          <p:nvPr/>
        </p:nvGraphicFramePr>
        <p:xfrm>
          <a:off x="3337560" y="1993392"/>
          <a:ext cx="26060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3429000" y="31821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tanh(x)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45643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○ シグモイドを原点対称にした形。出力が0中心なので学習が安定しやすい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△ 両端で横ばい → シグモイド同様、勾配消失を起こしやすい</a:t>
            </a:r>
            <a:endParaRPr lang="en-US" sz="1000" dirty="0"/>
          </a:p>
        </p:txBody>
      </p:sp>
      <p:sp>
        <p:nvSpPr>
          <p:cNvPr id="16" name="card-relu"/>
          <p:cNvSpPr/>
          <p:nvPr/>
        </p:nvSpPr>
        <p:spPr>
          <a:xfrm>
            <a:off x="6172200" y="1371600"/>
            <a:ext cx="2697480" cy="29260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0936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ReLU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309360" y="177393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出力 0〜∞｜現在の主流</a:t>
            </a:r>
            <a:endParaRPr lang="en-US" sz="1000" dirty="0"/>
          </a:p>
        </p:txBody>
      </p:sp>
      <p:graphicFrame>
        <p:nvGraphicFramePr>
          <p:cNvPr id="19" name="chart-relu" descr=""/>
          <p:cNvGraphicFramePr/>
          <p:nvPr/>
        </p:nvGraphicFramePr>
        <p:xfrm>
          <a:off x="6217920" y="1993392"/>
          <a:ext cx="26060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6309360" y="31821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max(0, x)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45643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○ 正の領域で傾きが常に1 → 勾配消失が起きにくい。計算も軽い（AlexNetも採用）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△ 負の領域は出力も傾きも0 → dying ReLU（ReLUの死）</a:t>
            </a:r>
            <a:endParaRPr lang="en-US" sz="1000" dirty="0"/>
          </a:p>
        </p:txBody>
      </p:sp>
      <p:sp>
        <p:nvSpPr>
          <p:cNvPr id="22" name="card-leaky"/>
          <p:cNvSpPr/>
          <p:nvPr/>
        </p:nvSpPr>
        <p:spPr>
          <a:xfrm>
            <a:off x="9052560" y="1371600"/>
            <a:ext cx="2697480" cy="29260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8972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Leaky ReLU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189720" y="177393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ReLUの改良版</a:t>
            </a:r>
            <a:endParaRPr lang="en-US" sz="1000" dirty="0"/>
          </a:p>
        </p:txBody>
      </p:sp>
      <p:graphicFrame>
        <p:nvGraphicFramePr>
          <p:cNvPr id="25" name="chart-leaky" descr=""/>
          <p:cNvGraphicFramePr/>
          <p:nvPr/>
        </p:nvGraphicFramePr>
        <p:xfrm>
          <a:off x="9098280" y="1993392"/>
          <a:ext cx="26060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9189720" y="31821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 (x&gt;0) ／ αx (x≤0)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189720" y="345643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○ 負の領域にもわずかな傾きを残す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→ dying ReLU への対策（図はα=0.1で誇張）</a:t>
            </a:r>
            <a:endParaRPr lang="en-US" sz="1000" dirty="0"/>
          </a:p>
        </p:txBody>
      </p:sp>
      <p:sp>
        <p:nvSpPr>
          <p:cNvPr id="28" name="panel-gradient"/>
          <p:cNvSpPr/>
          <p:nvPr/>
        </p:nvSpPr>
        <p:spPr>
          <a:xfrm>
            <a:off x="411480" y="4480560"/>
            <a:ext cx="66751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48640" y="4572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勾配消失問題：傾き（微分値）で比べる</a:t>
            </a:r>
            <a:endParaRPr lang="en-US" sz="1400" dirty="0"/>
          </a:p>
        </p:txBody>
      </p:sp>
      <p:graphicFrame>
        <p:nvGraphicFramePr>
          <p:cNvPr id="30" name="chart-gradient" descr=""/>
          <p:cNvGraphicFramePr/>
          <p:nvPr/>
        </p:nvGraphicFramePr>
        <p:xfrm>
          <a:off x="457200" y="4864608"/>
          <a:ext cx="356616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4114800" y="4937760"/>
            <a:ext cx="2880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誤差逆伝播法では、各層の傾きを何層にもわたって掛け合わせる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シグモイド・tanhは|x|が大きいと傾き≒0（シグモイドは最大でも0.25）。0に近い値が掛け合わされ、入力層側へ誤差が届かない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</a:rPr>
              <a:t>例：0.25を10層掛けると 0.25¹⁰ ≈ 0.000001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ReLUは正の領域で傾き＝1 → 掛けても減らない</a:t>
            </a:r>
            <a:endParaRPr lang="en-US" sz="1000" dirty="0"/>
          </a:p>
        </p:txBody>
      </p:sp>
      <p:sp>
        <p:nvSpPr>
          <p:cNvPr id="32" name="panel-softmax"/>
          <p:cNvSpPr/>
          <p:nvPr/>
        </p:nvSpPr>
        <p:spPr>
          <a:xfrm>
            <a:off x="7269480" y="4480560"/>
            <a:ext cx="450799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406640" y="457200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softmax関数：出力層で「合計1の確率」に</a:t>
            </a:r>
            <a:endParaRPr lang="en-US" sz="1400" dirty="0"/>
          </a:p>
        </p:txBody>
      </p:sp>
      <p:graphicFrame>
        <p:nvGraphicFramePr>
          <p:cNvPr id="34" name="chart-softmax" descr=""/>
          <p:cNvGraphicFramePr/>
          <p:nvPr/>
        </p:nvGraphicFramePr>
        <p:xfrm>
          <a:off x="7315200" y="4864608"/>
          <a:ext cx="21031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5" name="Text 27"/>
          <p:cNvSpPr txBox="1"/>
          <p:nvPr/>
        </p:nvSpPr>
        <p:spPr>
          <a:xfrm>
            <a:off x="9464040" y="4937760"/>
            <a:ext cx="21762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複数の出力値を、0〜1かつ合計が必ず1になる確率分布に変換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例：スコア 3 / 1.3 / 0.2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→ 80% / 15% / 5%（計100%）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多クラス分類の出力層で、交差エントロピー誤差と組み合わせて使う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出典：G検定 学習テキスト Rev.0 第4章「4.4 活性化関数」「4.5 勾配消失問題」（確認基準日 2026年7月29日）　※グラフは各関数の数式から作図。Leaky ReLUのα、softmaxのスコア、0.25¹⁰の計算は説明用の例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検定 学習資料">
  <a:themeElements>
    <a:clrScheme name="G検定 学習資料">
      <a:dk1>
        <a:srgbClr val="1F2A44"/>
      </a:dk1>
      <a:lt1>
        <a:srgbClr val="FFFFFF"/>
      </a:lt1>
      <a:dk2>
        <a:srgbClr val="4A5570"/>
      </a:dk2>
      <a:lt2>
        <a:srgbClr val="F1F4F7"/>
      </a:lt2>
      <a:accent1>
        <a:srgbClr val="0F7C80"/>
      </a:accent1>
      <a:accent2>
        <a:srgbClr val="D1495B"/>
      </a:accent2>
      <a:accent3>
        <a:srgbClr val="E09A2D"/>
      </a:accent3>
      <a:accent4>
        <a:srgbClr val="5B6C8F"/>
      </a:accent4>
      <a:accent5>
        <a:srgbClr val="7A4FA3"/>
      </a:accent5>
      <a:accent6>
        <a:srgbClr val="9AA5B8"/>
      </a:accent6>
      <a:hlink>
        <a:srgbClr val="0F7C80"/>
      </a:hlink>
      <a:folHlink>
        <a:srgbClr val="5B6C8F"/>
      </a:folHlink>
    </a:clrScheme>
    <a:fontScheme name="G検定 学習資料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活性化関数</dc:title>
  <dc:subject>PptxGenJS Presentation</dc:subject>
  <dc:creator>PptxGenJS</dc:creator>
  <cp:lastModifiedBy>PptxGenJS</cp:lastModifiedBy>
  <cp:revision>1</cp:revision>
  <dcterms:created xsi:type="dcterms:W3CDTF">2026-10-25T13:49:53Z</dcterms:created>
  <dcterms:modified xsi:type="dcterms:W3CDTF">2026-10-25T13:49:53Z</dcterms:modified>
</cp:coreProperties>
</file>